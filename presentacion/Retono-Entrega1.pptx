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234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DISEÑO DE APLICACIONES MÓVILES · TALLER ABP ENTREGA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737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DF0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Retoño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288036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El dato nace donde no hay señal.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611880"/>
            <a:ext cx="7680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móvil nativa Android offline-first para el inventario forestal georreferenciado y el seguimiento de supervivencia de siembras en viveros comunitarios de Antioquia.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5029200"/>
            <a:ext cx="3840480" cy="0"/>
          </a:xfrm>
          <a:prstGeom prst="line">
            <a:avLst/>
          </a:prstGeom>
          <a:noFill/>
          <a:ln w="25400">
            <a:solidFill>
              <a:srgbClr val="2F6B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2578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Yeison Alberto Gómez Amaya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Ingeniería y Ciencias Ambientales</a:t>
            </a:r>
            <a:endParaRPr lang="en-US" sz="15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Fundación Universitaria Católica del Norte ·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Restaurar no termina con la siembra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Antioquia es el departamento de la región andina con mayor superficie deforestada. La restauración se ejecuta a través de viveros comunitarios y familias vinculadas a pago por servicios ambientales. El indicador que verifica la ejecución es la tasa de supervivencia por lote — y ese dato nace en campo.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29718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358444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captura en papel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422452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Planillas deterioradas por lluvia, extraviadas o ilegibles. Sin coordenada del individuo.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3400" y="29718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358444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transcribe días después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63440" y="422452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Reproceso manual en hoja de cálculo, con errores de digitación acumulados.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55280" y="2971800"/>
            <a:ext cx="333756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32461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3584448"/>
            <a:ext cx="2697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 consolida tarde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8275320" y="4224528"/>
            <a:ext cx="2697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 dispersos, versiones inconsistentes y ninguna certeza de que el árbol de la visita 3 sea el de la visita 1.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causa raíz es la conectividad: el uso de internet en centros poblados y rural disperso está cerca de 20 puntos por debajo de las cabeceras. El técnico no trabaja en un hogar conectado, trabaja en el lote.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PREGUNTA PROBLEMA Y OBJETIVO GENERAL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F0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Qué se pregunta y qué se compromete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698480" cy="1600200"/>
          </a:xfrm>
          <a:prstGeom prst="roundRect">
            <a:avLst>
              <a:gd name="adj" fmla="val 6857"/>
            </a:avLst>
          </a:prstGeom>
          <a:solidFill>
            <a:srgbClr val="1B2A20"/>
          </a:solidFill>
          <a:ln w="12700">
            <a:solidFill>
              <a:srgbClr val="2C3B3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2140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PREGUNTA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450592"/>
            <a:ext cx="10058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¿De qué manera una aplicación móvil nativa Android con arquitectura offline-first, persistencia en Room y sincronización diferida con WorkManager permite reducir la pérdida de registros de campo y disminuir a menos de 24 horas la consolidación de la tasa de supervivencia por lote, en viveros comunitarios de Antioquia con conectividad intermitente, durante un pilotaje de ocho semanas?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31520" y="3749040"/>
            <a:ext cx="10698480" cy="1371600"/>
          </a:xfrm>
          <a:prstGeom prst="roundRect">
            <a:avLst>
              <a:gd name="adj" fmla="val 8000"/>
            </a:avLst>
          </a:prstGeom>
          <a:solidFill>
            <a:srgbClr val="1B2A20"/>
          </a:solidFill>
          <a:ln w="12700">
            <a:solidFill>
              <a:srgbClr val="2C3B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39502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OBJETIVO GENERAL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4279392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7FB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</a:t>
            </a:r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móvil nativa Android offline-first que garantice el registro georreferenciado y la sincronización diferida del inventario forestal, alcanzando más del 98 % de sincronización exitosa y una consolidación de la supervivencia por lote inferior a 24 horas, verificada en dispositivos reales durante ocho semanas.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8521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nativo offline-first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58521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≥98 % sync · &lt;24 h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0" y="58521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maduro, alcance MVP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7804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58521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Necesidad documentada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585216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Pilotaje de 8 semanas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OBJETIVOS ESPECÍFICOS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Tres pasos, tres métricas, tres plazos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106984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03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1 · SEMANA 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3774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Investigación de usuario y prototipado UX/UI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24028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prototipo interactivo en Figma para los flujos de lote, siembra y monitoreo, validando ocho heurísticas de Nielsen con tres usuarios del contexto.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3429000"/>
            <a:ext cx="106984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61188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2 · SEMANA 6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8862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Desarrollo frontend e integración backend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374904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captura y persistencia local en Kotlin con Compose y Room, más el motor de sincronización con WorkManager, con 70 % de cobertura en la capa de dominio.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937760"/>
            <a:ext cx="10698480" cy="132588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5120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PASO 3 · SEMANA 8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539496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5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Pruebas en dispositivos reales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343400" y="5257800"/>
            <a:ext cx="6858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rendimiento en tres dispositivos de gamas distintas: arranque en frío, consumo de batería en 4 h, tamaño de APK y usabilidad SUS por encima de 75.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6400800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verbo rector por objetivo, en el nivel correspondiente de la taxonomía de Bloom.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ARQUITECTURA DE LA SOLUCIÓN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F0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Tres capas y un núcleo offline-first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6766560" cy="1051560"/>
          </a:xfrm>
          <a:prstGeom prst="roundRect">
            <a:avLst>
              <a:gd name="adj" fmla="val 8696"/>
            </a:avLst>
          </a:prstGeom>
          <a:solidFill>
            <a:srgbClr val="3A4C3F"/>
          </a:solidFill>
          <a:ln w="12700">
            <a:solidFill>
              <a:srgbClr val="4A5C4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1226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PRESENTACIÓN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0487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Jetpack Compose · ViewModel · StateFlow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266090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UI observa la base local. Nunca consulta la red.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3200400"/>
            <a:ext cx="6766560" cy="1051560"/>
          </a:xfrm>
          <a:prstGeom prst="roundRect">
            <a:avLst>
              <a:gd name="adj" fmla="val 8696"/>
            </a:avLst>
          </a:prstGeom>
          <a:solidFill>
            <a:srgbClr val="2F6B3F"/>
          </a:solidFill>
          <a:ln w="12700">
            <a:solidFill>
              <a:srgbClr val="4A5C4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334670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DOMINIO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363931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· Casos de uso · Contratos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89534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Kotlin puro, sin Android. Se prueba en la JVM sin emulador.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4434840"/>
            <a:ext cx="6766560" cy="1051560"/>
          </a:xfrm>
          <a:prstGeom prst="roundRect">
            <a:avLst>
              <a:gd name="adj" fmla="val 8696"/>
            </a:avLst>
          </a:prstGeom>
          <a:solidFill>
            <a:srgbClr val="2C4A33"/>
          </a:solidFill>
          <a:ln w="12700">
            <a:solidFill>
              <a:srgbClr val="4A5C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45811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DATOS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873752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+ SQLCipher · WorkManager · Firestore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129784"/>
            <a:ext cx="6217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es la fuente única de verdad; la red actúa por detrás.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566928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las dependencias apuntan al dominio · 4 casos de uso · 13 pruebas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955280" y="1965960"/>
            <a:ext cx="3474720" cy="3429000"/>
          </a:xfrm>
          <a:prstGeom prst="roundRect">
            <a:avLst>
              <a:gd name="adj" fmla="val 3200"/>
            </a:avLst>
          </a:prstGeom>
          <a:solidFill>
            <a:srgbClr val="1B2A20"/>
          </a:solidFill>
          <a:ln w="12700">
            <a:solidFill>
              <a:srgbClr val="2C3B3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0" y="21945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FLUJO DE SINCRONIZACIÓN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0" y="2542032"/>
            <a:ext cx="297180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Guardar
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en Room. La UI confirma al instante.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Encolar
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WorkManager espera red. Sobrevive al reinicio.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DF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Enviar en orden
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Lote, luego siembra, luego monitoreo. Al revés quedarían huérfanos.
</a:t>
            </a:r>
            <a:pPr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Resolver
</a:t>
            </a:r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conflictos quedan visibles para decisión humana.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STACK Y SEGURIDAD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Por qué nativo y no multiplataforma</a:t>
            </a:r>
            <a:endParaRPr lang="en-US" sz="3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377440"/>
                <a:gridCol w="6217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Alternativa descartada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Kotlin + Compose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plugin de trabajo en segundo plano abstrae WorkManager justo en el componente más crítico; sin población iOS la ventaja no se aprovecha.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+ SQLCipher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Cifrado campo a campo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Cifrar por campo rompe índices y ordenamientos. SQLCipher cifra el archivo completo con AES-256.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 en primer plano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Consumo de batería inaceptable en jornadas de campo largas.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UUID en cliente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 asignado por servidor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Crear un registro requeriría red, que es exactamente lo que se busca evitar.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Room como verdad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Caché offline de Firestore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caché es opaca por registro y resuelve conflictos en silencio. Ver ADR-007.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31520" y="510235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F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SEGURIDAD EN EL DISPOSITIVO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4406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Cifrado en reposo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769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SQLCipher AES-256 sobre Room, clave en Android Keystore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3429000" y="54406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Reglas del servidor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3429000" y="5769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obligatoria, autoría verificada, borrado prohibido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126480" y="54406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Transporte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6126480" y="5769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1.2+, texto plano prohibido en toda la app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823960" y="5440680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Fotografías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5769864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EXIF eliminado al recomprimir; almacenamiento privado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SIMULADOR DE COSTOS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USD para llevar el MVP a la tienda</a:t>
            </a:r>
            <a:endParaRPr lang="en-US" sz="3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874520"/>
          <a:ext cx="10698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377440"/>
                <a:gridCol w="2926080"/>
                <a:gridCol w="11887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Frecuencia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Play Console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Pago único de por vida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 Firestore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Estimado mensual (Blaze)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Firebase Storage (fotos)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Mensual, 5 GB comprimidos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Authentication · FCM · Crashlytics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Google Cloud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gratuito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· Netlify · Figma Education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Planes gratuitos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total estimado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4C5A5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101600" marB="101600" anchor="ctr">
                    <a:lnL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" y="5212080"/>
            <a:ext cx="5212080" cy="1188720"/>
          </a:xfrm>
          <a:prstGeom prst="roundRect">
            <a:avLst>
              <a:gd name="adj" fmla="val 7692"/>
            </a:avLst>
          </a:prstGeom>
          <a:solidFill>
            <a:srgbClr val="2F6B3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051560" y="539496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85 %
</a:t>
            </a:r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D9E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presupuesto de 300 USD queda disponible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6309360" y="5257800"/>
            <a:ext cx="51206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0E18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holgura no es sobrante.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tres escenarios previstos: crecimiento del almacenamiento de fotografías, contratación de cartografía base sin conexión y compra de un segundo dispositivo de gama baja para las pruebas del objetivo 3. Se descarta el Apple Developer Program por coherencia con el enfoque nativo Android.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F0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ESTADO DE LA IMPLEMENTACIÓN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E1811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Qué funciona hoy, y qué no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F6B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FUNCIONA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2176272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24942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persistente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2880360" y="224942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inicia una vez con red; luego días de campo sin ella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" y="2779776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60120" y="2852928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Lotes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880360" y="28529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Crear, editar y elegir el lote activo, compartido entre pantallas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3383280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4564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Registro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GPS validado a 15 m, fotografía procesada, especie del catálogo local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3986784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60120" y="40599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Monitoreo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2880360" y="4059936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Vivo, muerto o no hallado, con medidas solo cuando corresponde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31520" y="4590288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66344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Supervivencia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2880360" y="46634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Calculada en el dispositivo, con advertencia si la cobertura es baja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31520" y="5193792"/>
            <a:ext cx="6035040" cy="530352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2700">
            <a:solidFill>
              <a:srgbClr val="DDE2D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0120" y="5266944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6B3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Sincronización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2880360" y="5266944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Lote → siembra → monitoreo, con conflictos marcados y visibles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223760" y="182880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C9A2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LIMITACIONES DECLARADAS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23760" y="2176272"/>
            <a:ext cx="4206240" cy="3529584"/>
          </a:xfrm>
          <a:prstGeom prst="roundRect">
            <a:avLst>
              <a:gd name="adj" fmla="val 2591"/>
            </a:avLst>
          </a:prstGeom>
          <a:solidFill>
            <a:srgbClr val="F6F2E4"/>
          </a:solidFill>
          <a:ln w="12700">
            <a:solidFill>
              <a:srgbClr val="E2D9B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0" y="2377440"/>
            <a:ext cx="37033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E18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Fotos sin subir a Cloud Storage
</a:t>
            </a:r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ruta local viaja al servidor.
</a:t>
            </a:r>
            <a:pPr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E18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SQLCipher sin alineamiento a 16 KB
</a:t>
            </a:r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efecto hoy; importa al publicar en Play.
</a:t>
            </a:r>
            <a:pPr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E18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Pinning de certificado desactivado
</a:t>
            </a:r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 con su procedimiento: pines de ejemplo no protegen nada.
</a:t>
            </a:r>
            <a:pPr indent="0" marL="0">
              <a:lnSpc>
                <a:spcPts val="1450"/>
              </a:lnSpc>
              <a:buNone/>
            </a:pPr>
            <a:r>
              <a:rPr lang="en-US" sz="1050" b="1" dirty="0">
                <a:solidFill>
                  <a:srgbClr val="0E18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alta de usuario exige conectividad
</a:t>
            </a:r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4C5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resuelve dando de alta antes de salir a campo.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94360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F6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limitación declarada con su vía de solución demuestra criterio. Una oculta que aparece en la sustentación resta credibilidad al conjunto.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8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FB06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ENTREGABLES Y PROYECCIÓN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EDF0E8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Lo que queda construido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1965960"/>
            <a:ext cx="5074920" cy="1143000"/>
          </a:xfrm>
          <a:prstGeom prst="roundRect">
            <a:avLst>
              <a:gd name="adj" fmla="val 8000"/>
            </a:avLst>
          </a:prstGeom>
          <a:solidFill>
            <a:srgbClr val="1B2A20"/>
          </a:solidFill>
          <a:ln w="12700">
            <a:solidFill>
              <a:srgbClr val="2C3B3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21488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Aplicación funcional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4780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archivos Kotlin, 13 pruebas de dominio, corriendo de extremo a extremo.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72200" y="1965960"/>
            <a:ext cx="5074920" cy="1143000"/>
          </a:xfrm>
          <a:prstGeom prst="roundRect">
            <a:avLst>
              <a:gd name="adj" fmla="val 8000"/>
            </a:avLst>
          </a:prstGeom>
          <a:solidFill>
            <a:srgbClr val="1B2A20"/>
          </a:solidFill>
          <a:ln w="12700">
            <a:solidFill>
              <a:srgbClr val="2C3B3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92240" y="21488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Repositorio público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24780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por capas, 10 ADR, reglas de Firestore versionadas y manual de despliegue.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3337560"/>
            <a:ext cx="5074920" cy="1143000"/>
          </a:xfrm>
          <a:prstGeom prst="roundRect">
            <a:avLst>
              <a:gd name="adj" fmla="val 8000"/>
            </a:avLst>
          </a:prstGeom>
          <a:solidFill>
            <a:srgbClr val="1B2A20"/>
          </a:solidFill>
          <a:ln w="12700">
            <a:solidFill>
              <a:srgbClr val="2C3B3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5204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Documento maestro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Problema, pregunta, objetivos SMART, arquitectura, costos, seguridad y limitaciones.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3337560"/>
            <a:ext cx="5074920" cy="1143000"/>
          </a:xfrm>
          <a:prstGeom prst="roundRect">
            <a:avLst>
              <a:gd name="adj" fmla="val 8000"/>
            </a:avLst>
          </a:prstGeom>
          <a:solidFill>
            <a:srgbClr val="1B2A20"/>
          </a:solidFill>
          <a:ln w="12700">
            <a:solidFill>
              <a:srgbClr val="2C3B3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92240" y="35204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B069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Landing page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849624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 interactiva del comportamiento offline, desplegada en Netlify.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4937760"/>
            <a:ext cx="10698480" cy="1051560"/>
          </a:xfrm>
          <a:prstGeom prst="roundRect">
            <a:avLst>
              <a:gd name="adj" fmla="val 8696"/>
            </a:avLst>
          </a:prstGeom>
          <a:solidFill>
            <a:srgbClr val="23331F"/>
          </a:solidFill>
          <a:ln w="12700">
            <a:solidFill>
              <a:srgbClr val="2F6B3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5138928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7FB0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a semillero. 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3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tasa de supervivencia por lote y especie es un dato que hoy se pierde. Un instrumento que lo capture de forma confiable y georreferenciada abre línea de investigación en monitoreo participativo de restauración ecológica, con datos transferibles a las corporaciones autónomas regionales.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6263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F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Yeison Alberto Gómez Amaya  ·  Diseño de Aplicaciones Móviles  ·  Católica del Norte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2026-09-01T23:13:47Z</dcterms:created>
  <dcterms:modified xsi:type="dcterms:W3CDTF">2026-09-01T23:13:47Z</dcterms:modified>
</cp:coreProperties>
</file>